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149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097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APOLLO UNIVERSITY — FIRST REVIEW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594360"/>
            <a:ext cx="7863840" cy="3383280"/>
          </a:xfrm>
          <a:prstGeom prst="roundRect">
            <a:avLst>
              <a:gd name="adj" fmla="val 3243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1E90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777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CreditSentinel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Credit Risk Intelligence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2176272"/>
            <a:ext cx="457200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59152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1A3A6B"/>
          </a:solidFill>
          <a:ln w="10160">
            <a:solidFill>
              <a:srgbClr val="4FAC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591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Credit Memo Pipeline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0440" y="2359152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1A3A6B"/>
          </a:solidFill>
          <a:ln w="10160">
            <a:solidFill>
              <a:srgbClr val="4FAC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3591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FAISS + LLaMA 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2359152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1A3A6B"/>
          </a:solidFill>
          <a:ln w="10160">
            <a:solidFill>
              <a:srgbClr val="4FAC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3591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| Groq 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2907792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1A3A6B"/>
          </a:solidFill>
          <a:ln w="7620">
            <a:solidFill>
              <a:srgbClr val="1E9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9077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</a:rPr>
              <a:t>Student  </a:t>
            </a:r>
            <a:r>
              <a:rPr lang="en-US" sz="950" dirty="0">
                <a:solidFill>
                  <a:srgbClr val="FFFFFF"/>
                </a:solidFill>
              </a:rPr>
              <a:t>C Yuva Teja  |  Reg: 122411510123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2907792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1A3A6B"/>
          </a:solidFill>
          <a:ln w="7620">
            <a:solidFill>
              <a:srgbClr val="1E9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9077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</a:rPr>
              <a:t>Programme  </a:t>
            </a:r>
            <a:r>
              <a:rPr lang="en-US" sz="950" dirty="0">
                <a:solidFill>
                  <a:srgbClr val="FFFFFF"/>
                </a:solidFill>
              </a:rPr>
              <a:t>B.Tech CSE  —  School of Technology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" y="3474720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1A3A6B"/>
          </a:solidFill>
          <a:ln w="7620">
            <a:solidFill>
              <a:srgbClr val="1E9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4747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</a:rPr>
              <a:t>Guide  </a:t>
            </a:r>
            <a:r>
              <a:rPr lang="en-US" sz="950" dirty="0">
                <a:solidFill>
                  <a:srgbClr val="FFFFFF"/>
                </a:solidFill>
              </a:rPr>
              <a:t>Mr. J. Jacob Navin Kumar  |  Dept. of CSE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3474720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1A3A6B"/>
          </a:solidFill>
          <a:ln w="7620">
            <a:solidFill>
              <a:srgbClr val="1E9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34747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</a:rPr>
              <a:t>Company  </a:t>
            </a:r>
            <a:r>
              <a:rPr lang="en-US" sz="950" dirty="0">
                <a:solidFill>
                  <a:srgbClr val="FFFFFF"/>
                </a:solidFill>
              </a:rPr>
              <a:t>Skillvance Technologies  (8 Weeks)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81888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 •  The Apollo University, Chittoor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371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4FACFE"/>
                </a:solidFill>
              </a:rPr>
              <a:t>❝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8138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CreditSentinel is an AI-powered credit risk intelligence platform engineered for Indian Non-Banking Financial Companies (NBFCs) and lending institutions. The platform integrates Machine Learning-based risk scoring, Generative AI credit memo generation, and automated red flag detection to modernise the credit underwriting lifecycle.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project focuses on Module 4 — the GenAI Credit Memo Pipeline. The module leverages a Retrieval-Augmented Generation (RAG) architecture built with LangChain and FAISS vector search, powered by LLaMA 3 via the Groq API to generate structured, six-section professional credit memos from raw applicant data in under three seconds. The pipeline enforces prompt engineering best practices including chain-of-thought reasoning, output validation, and format consistency. The result is a significant reduction in analyst documentation time while improving accuracy and auditability of lending decisions.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4572000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 Credit Risk  •  RAG Pipeline  •  LLaMA 3  •  LangChain  •  FAISS  •  FastAPI  •  NBFC Underwriting  •  Groq API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371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FFF4EC"/>
          </a:solidFill>
          <a:ln w="12700">
            <a:solidFill>
              <a:srgbClr val="F4A2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24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NBFC credit underwriting is:
</a:t>
            </a: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Time-intensive:</a:t>
            </a: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3–4 hours per loan application
</a:t>
            </a: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Error-prone:</a:t>
            </a: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 fatigue leads to inconsistent memo quality
</a:t>
            </a: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Non-scalable:</a:t>
            </a: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Analysts cannot process high application volumes
</a:t>
            </a: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effort:</a:t>
            </a: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Six sections written from scratch every time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960120"/>
            <a:ext cx="4370832" cy="1920240"/>
          </a:xfrm>
          <a:prstGeom prst="roundRect">
            <a:avLst>
              <a:gd name="adj" fmla="val 4762"/>
            </a:avLst>
          </a:prstGeom>
          <a:solidFill>
            <a:srgbClr val="EAF4FF"/>
          </a:solidFill>
          <a:ln w="12700">
            <a:solidFill>
              <a:srgbClr val="1E90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10241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5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OUR SOLUTION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45152" y="1371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CreditSentinel delivers:
</a:t>
            </a: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Risk Score  </a:t>
            </a: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Automated risk classification
</a:t>
            </a: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Credit Memo  </a:t>
            </a: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Six-section structured memo &lt; 3 sec
</a:t>
            </a: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 Flag Detection  </a:t>
            </a: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Anomaly &amp; risk trigger alerts
</a:t>
            </a: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Dashboard  </a:t>
            </a: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Unified review interface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358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My Role:  Module 4 — GenAI Credit Memo Pipeline  |  LangChain · FAISS · LLaMA 3 · FastAPI · Groq API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4320" y="3749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Context — Indian NBFC Credit Market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69080"/>
            <a:ext cx="199339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41148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9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₹33 LCR+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" y="44805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Assets Under Mgmt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0592" y="4069080"/>
            <a:ext cx="199339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50592" y="41148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9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50592" y="44805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NBFCs in India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26864" y="4069080"/>
            <a:ext cx="199339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26864" y="41148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9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 hrs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26864" y="44805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Memo Time Saved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03136" y="4069080"/>
            <a:ext cx="199339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03136" y="41148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9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 sec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03136" y="44805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Memo Generation Time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371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0624" y="1097280"/>
            <a:ext cx="502920" cy="502920"/>
          </a:xfrm>
          <a:prstGeom prst="ellipse">
            <a:avLst/>
          </a:prstGeom>
          <a:solidFill>
            <a:srgbClr val="EAF4FF"/>
          </a:solidFill>
          <a:ln w="10160">
            <a:solidFill>
              <a:srgbClr val="4FAC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11247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Turnaround Time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3192" y="160020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credit memo preparation takes 3–4 hours per NBFC loan application, delaying disbursements and creating analyst bottlenecks at scale.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64992" y="1097280"/>
            <a:ext cx="502920" cy="502920"/>
          </a:xfrm>
          <a:prstGeom prst="ellipse">
            <a:avLst/>
          </a:prstGeom>
          <a:solidFill>
            <a:srgbClr val="EAF4FF"/>
          </a:solidFill>
          <a:ln w="10160">
            <a:solidFill>
              <a:srgbClr val="4FAC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📉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950208" y="11247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Memo Quality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160020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fatigue and subjective interpretation lead to memos varying in structure, completeness and language — making audits and regulatory reviews difficult.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44768" y="9601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097280"/>
            <a:ext cx="502920" cy="502920"/>
          </a:xfrm>
          <a:prstGeom prst="ellipse">
            <a:avLst/>
          </a:prstGeom>
          <a:solidFill>
            <a:srgbClr val="EAF4FF"/>
          </a:solidFill>
          <a:ln w="10160">
            <a:solidFill>
              <a:srgbClr val="4FAC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🔄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94576" y="11247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Non-Scalable Operations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81928" y="160020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NBFCs cannot process high loan volumes without proportionally expanding their analyst workforce, making growth capital-intensive and operationally rigid.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29260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0624" y="3063240"/>
            <a:ext cx="502920" cy="502920"/>
          </a:xfrm>
          <a:prstGeom prst="ellipse">
            <a:avLst/>
          </a:prstGeom>
          <a:solidFill>
            <a:srgbClr val="EAF4FF"/>
          </a:solidFill>
          <a:ln w="10160">
            <a:solidFill>
              <a:srgbClr val="4FAC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📝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05840" y="30906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Manual Documentation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93192" y="356616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memo sections (applicant profile, financials, risk assessment, collateral, compliance, recommendation) are rewritten from scratch for every application.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29260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64992" y="3063240"/>
            <a:ext cx="502920" cy="502920"/>
          </a:xfrm>
          <a:prstGeom prst="ellipse">
            <a:avLst/>
          </a:prstGeom>
          <a:solidFill>
            <a:srgbClr val="EAF4FF"/>
          </a:solidFill>
          <a:ln w="10160">
            <a:solidFill>
              <a:srgbClr val="4FAC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⚠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950208" y="30906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Risk Signals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337560" y="356616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red flags (inflated income, suspicious patterns, policy violations) are often missed when analysts are overloaded with volume.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44768" y="29260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3063240"/>
            <a:ext cx="502920" cy="502920"/>
          </a:xfrm>
          <a:prstGeom prst="ellipse">
            <a:avLst/>
          </a:prstGeom>
          <a:solidFill>
            <a:srgbClr val="EAF4FF"/>
          </a:solidFill>
          <a:ln w="10160">
            <a:solidFill>
              <a:srgbClr val="4FAC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🏛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894576" y="30906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Audit Pressure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81928" y="356616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guidelines mandate structured and traceable underwriting documentation. Inconsistent manual memos increase compliance and legal risk for NBFCs.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6032" y="4617720"/>
            <a:ext cx="8631936" cy="320040"/>
          </a:xfrm>
          <a:prstGeom prst="roundRect">
            <a:avLst>
              <a:gd name="adj" fmla="val 1714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617720"/>
            <a:ext cx="8449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An AI-driven RAG pipeline that auto-generates structured, auditable credit memos in seconds — reducing effort, improving consistency, and scaling effortlessly.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371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960120"/>
          <a:ext cx="8229600" cy="3401568"/>
        </p:xfrm>
        <a:graphic>
          <a:graphicData uri="http://schemas.openxmlformats.org/drawingml/2006/table">
            <a:tbl>
              <a:tblPr/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Topic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Altman &amp; Sabato (2007)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Risk Modelling for SMEs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on financial ratios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models improved SME default prediction by 25%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RAG or NLP for memo generation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Khandani et al. (2010)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 Consumer Credit Assessment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 on credit bureau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outperforms traditional scorecards by 15–30%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on prediction, not documentation automation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Lewis et al. (2020)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for Knowledge-Intensive NLP Tasks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Passage Retrieval + Seq2Seq LLM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outperforms closed-book LLMs on factual Q&amp;A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applied to NBFC credit domain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Touvron et al. (2023)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2: Open LLMs for Research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architecture, RLHF fine-tuning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 model competitive with GPT-3.5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domain fine-tuning unexplored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Zhao et al. (2024)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for Financial Report Generation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 with structured prompts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accuracy on financial summaries vs. human benchmark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integrated with real-time NBFC pipelines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01168" y="960120"/>
            <a:ext cx="8741664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1168" y="960120"/>
            <a:ext cx="347472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S.No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960120"/>
            <a:ext cx="1389888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Author(s) &amp; Year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938528" y="960120"/>
            <a:ext cx="1719072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Topic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0" y="9601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0640" y="960120"/>
            <a:ext cx="1719072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39712" y="960120"/>
            <a:ext cx="1591056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01168" y="1527048"/>
            <a:ext cx="874166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6888" y="1527048"/>
            <a:ext cx="2560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" y="1527048"/>
            <a:ext cx="1298448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Altman &amp; Sabato (2007)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984248" y="15270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Modelling for SMEs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703320" y="15270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financial ratios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166360" y="15270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models improved SME default prediction by 25%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85432" y="1527048"/>
            <a:ext cx="1499616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 or NLP for memo generation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01168" y="2093976"/>
            <a:ext cx="8741664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D0D9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6888" y="2093976"/>
            <a:ext cx="2560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" y="2093976"/>
            <a:ext cx="1298448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Khandani et al. (2010)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984248" y="2093976"/>
            <a:ext cx="16276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Consumer Credit Assessment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703320" y="2093976"/>
            <a:ext cx="1371600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on credit bureau data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166360" y="2093976"/>
            <a:ext cx="16276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outperforms traditional scorecards by 15–30%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885432" y="2093976"/>
            <a:ext cx="1499616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prediction, not documentation automation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01168" y="2660904"/>
            <a:ext cx="874166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46888" y="2660904"/>
            <a:ext cx="2560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94360" y="2660904"/>
            <a:ext cx="1298448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(2020)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984248" y="2660904"/>
            <a:ext cx="16276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Knowledge-Intensive NLP Tasks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703320" y="2660904"/>
            <a:ext cx="1371600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Passage Retrieval + Seq2Seq LLM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166360" y="2660904"/>
            <a:ext cx="16276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outperforms closed-book LLMs on factual Q&amp;A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85432" y="2660904"/>
            <a:ext cx="1499616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applied to NBFC credit domain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01168" y="3227832"/>
            <a:ext cx="8741664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D0D9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46888" y="3227832"/>
            <a:ext cx="2560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94360" y="3227832"/>
            <a:ext cx="1298448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Touvron et al. (2023)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984248" y="3227832"/>
            <a:ext cx="16276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2: Open LLMs for Research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3703320" y="32278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architecture, RLHF fine-tuning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166360" y="3227832"/>
            <a:ext cx="16276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 competitive with GPT-3.5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885432" y="3227832"/>
            <a:ext cx="1499616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domain fine-tuning unexplored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201168" y="3794760"/>
            <a:ext cx="874166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46888" y="3794760"/>
            <a:ext cx="2560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94360" y="3794760"/>
            <a:ext cx="1298448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et al. (2024)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984248" y="37947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Financial Report Generation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703320" y="3794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with structured prompts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166360" y="37947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accuracy on financial summaries vs. human benchmark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885432" y="3794760"/>
            <a:ext cx="1499616" cy="56692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integrated with real-time NBFC pipelines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201168" y="4544568"/>
            <a:ext cx="8741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reviewed works validate the viability of AI/ML for credit risk — none combine RAG + LLaMA 3 + FastAPI for real-time NBFC credit memo generation.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371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8EDF5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Loan application received by NBFC analyst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7620">
            <a:solidFill>
              <a:srgbClr val="E8EDF5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Analyst manually collects applicant data from multiple sources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8EDF5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Financial ratios computed using spreadsheets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7620">
            <a:solidFill>
              <a:srgbClr val="E8EDF5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017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Six-section credit memo hand-written in MS Word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8EDF5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566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Internal review by senior analyst (1–2 rounds)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1480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7620">
            <a:solidFill>
              <a:srgbClr val="E8EDF5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Final approval / rejection after 3–4 hours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0058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Drawbacks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137160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8F5"/>
          </a:solidFill>
          <a:ln w="7620">
            <a:solidFill>
              <a:srgbClr val="F4A261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28032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Slow — 3 to 4 hours per memo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92024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F4A261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28032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Inconsistent — analyst-dependent quality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46888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8F5"/>
          </a:solidFill>
          <a:ln w="7620">
            <a:solidFill>
              <a:srgbClr val="F4A261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28032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Error-prone — manual ratio calculations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01752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F4A261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28032" y="3017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Repetitive — same structure rewritten every time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56616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8F5"/>
          </a:solidFill>
          <a:ln w="7620">
            <a:solidFill>
              <a:srgbClr val="F4A261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28032" y="3566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Risky — critical signals often missed under load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411480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F4A261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28032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Costly — each memo requires senior analyst time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645152"/>
            <a:ext cx="8595360" cy="292608"/>
          </a:xfrm>
          <a:prstGeom prst="roundRect">
            <a:avLst>
              <a:gd name="adj" fmla="val 1875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6451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drawbacks motivate a RAG-based AI pipeline to eliminate manual effort, improve quality, and enable scale.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371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3192" y="128016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05156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RAG Credit Memo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35608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a Retrieval-Augmented Generation pipeline using LangChain, FAISS and LLaMA 3 that grounds memo generation in actual applicant data.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08576" y="96012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45736" y="128016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58384" y="105156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Six-Section Memo Generation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58384" y="1435608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structured credit memos covering: applicant profile, financial analysis, risk classification, collateral details, compliance check, and recommendation.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33172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" y="265176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42316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Sub-6-Second Latency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807208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the Groq API integration and prompt pipeline to consistently deliver complete memos in under six seconds per application.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08576" y="233172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45736" y="265176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58384" y="242316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Memo Faithfulness &amp; Accuracy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58384" y="2807208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prompt engineering safeguards — CoT reasoning, output validators, format enforcement — to minimise hallucinations and factual drift.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370332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3192" y="402336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379476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CreditSentinel Platform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4178808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memo pipeline as a RESTful FastAPI endpoint compatible with the broader CreditSentinel microservices architecture and Swagger UI.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08576" y="370332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016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45736" y="402336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58384" y="379476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Benchmark Performance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58384" y="4178808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memo quality against manual analyst benchmarks on accuracy, completeness, consistency and RBI-norm adherence.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371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8631936" cy="384048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960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960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86200" y="9601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Purpose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344168"/>
            <a:ext cx="8631936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3441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Language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13441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86200" y="13441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development language for all pipeline components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1691640"/>
            <a:ext cx="8631936" cy="347472"/>
          </a:xfrm>
          <a:prstGeom prst="rect">
            <a:avLst/>
          </a:prstGeom>
          <a:solidFill>
            <a:srgbClr val="F4F7FB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1691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LLM Model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8800" y="1691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(Meta)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86200" y="16916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large language model for credit memo text generation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2039112"/>
            <a:ext cx="8631936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20391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LLM Inference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28800" y="2039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86200" y="203911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 LLM inference cloud API; enables sub-3s responses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386584"/>
            <a:ext cx="8631936" cy="347472"/>
          </a:xfrm>
          <a:prstGeom prst="rect">
            <a:avLst/>
          </a:prstGeom>
          <a:solidFill>
            <a:srgbClr val="F4F7FB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23865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RAG Orchestration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28800" y="23865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86200" y="23865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RAG pipeline, prompt chaining, output parsing &amp; retrieval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734056"/>
            <a:ext cx="8631936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7340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Vector Search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28800" y="2734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(Meta)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86200" y="273405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similarity search for retrieved context in RAG pipeline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3081528"/>
            <a:ext cx="8631936" cy="347472"/>
          </a:xfrm>
          <a:prstGeom prst="rect">
            <a:avLst/>
          </a:prstGeom>
          <a:solidFill>
            <a:srgbClr val="F4F7FB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" y="3081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 Framework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828800" y="3081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86200" y="30815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 exposing memo generation endpoint; async support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3429000"/>
            <a:ext cx="8631936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3429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Database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82880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86200" y="34290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storage of applicant records and generated memo history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3776472"/>
            <a:ext cx="8631936" cy="347472"/>
          </a:xfrm>
          <a:prstGeom prst="rect">
            <a:avLst/>
          </a:prstGeom>
          <a:solidFill>
            <a:srgbClr val="F4F7FB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37764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API Docs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828800" y="37764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86200" y="377647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API documentation and endpoint testing interface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6032" y="4123944"/>
            <a:ext cx="8631936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" y="41239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Version Control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828800" y="41239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86200" y="412394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control, team collaboration and codebase management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4471416"/>
            <a:ext cx="8631936" cy="347472"/>
          </a:xfrm>
          <a:prstGeom prst="rect">
            <a:avLst/>
          </a:prstGeom>
          <a:solidFill>
            <a:srgbClr val="F4F7FB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" y="44714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IDE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828800" y="44714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86200" y="44714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development environment with Python and API extensions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371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8631936" cy="566928"/>
          </a:xfrm>
          <a:prstGeom prst="roundRect">
            <a:avLst>
              <a:gd name="adj" fmla="val 12903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60120"/>
            <a:ext cx="8449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CreditSentinel Module 4 — GenAI Credit Memo Pipeline — RAG Architecture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1673352"/>
            <a:ext cx="1325880" cy="21031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783080"/>
            <a:ext cx="640080" cy="64008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" y="249631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" y="296265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JSON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FastAPI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/generate-memo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81912" y="2734056"/>
            <a:ext cx="137160" cy="0"/>
          </a:xfrm>
          <a:prstGeom prst="line">
            <a:avLst/>
          </a:prstGeom>
          <a:noFill/>
          <a:ln w="22860">
            <a:solidFill>
              <a:srgbClr val="4FAC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19072" y="1673352"/>
            <a:ext cx="1325880" cy="21031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57400" y="1783080"/>
            <a:ext cx="640080" cy="640080"/>
          </a:xfrm>
          <a:prstGeom prst="ellipse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64792" y="249631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64792" y="296265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policy chunks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44952" y="2734056"/>
            <a:ext cx="137160" cy="0"/>
          </a:xfrm>
          <a:prstGeom prst="line">
            <a:avLst/>
          </a:prstGeom>
          <a:noFill/>
          <a:ln w="22860">
            <a:solidFill>
              <a:srgbClr val="4FAC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2112" y="1673352"/>
            <a:ext cx="1325880" cy="21031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20440" y="1783080"/>
            <a:ext cx="640080" cy="640080"/>
          </a:xfrm>
          <a:prstGeom prst="ellipse">
            <a:avLst/>
          </a:prstGeom>
          <a:solidFill>
            <a:srgbClr val="1E7D52"/>
          </a:solidFill>
          <a:ln w="12700">
            <a:solidFill>
              <a:srgbClr val="1E7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27832" y="249631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27832" y="296265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constructs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6-section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with context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07992" y="2734056"/>
            <a:ext cx="137160" cy="0"/>
          </a:xfrm>
          <a:prstGeom prst="line">
            <a:avLst/>
          </a:prstGeom>
          <a:noFill/>
          <a:ln w="22860">
            <a:solidFill>
              <a:srgbClr val="4FAC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1673352"/>
            <a:ext cx="1325880" cy="21031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83480" y="1783080"/>
            <a:ext cx="640080" cy="640080"/>
          </a:xfrm>
          <a:prstGeom prst="ellipse">
            <a:avLst/>
          </a:prstGeom>
          <a:solidFill>
            <a:srgbClr val="7B4F9E"/>
          </a:solidFill>
          <a:ln w="12700">
            <a:solidFill>
              <a:srgbClr val="7B4F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90872" y="249631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90872" y="296265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via Groq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memo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second latency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71032" y="2734056"/>
            <a:ext cx="137160" cy="0"/>
          </a:xfrm>
          <a:prstGeom prst="line">
            <a:avLst/>
          </a:prstGeom>
          <a:noFill/>
          <a:ln w="22860">
            <a:solidFill>
              <a:srgbClr val="4FAC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08192" y="1673352"/>
            <a:ext cx="1325880" cy="21031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rgbClr val="B85A0D"/>
          </a:solidFill>
          <a:ln w="12700">
            <a:solidFill>
              <a:srgbClr val="B85A0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153912" y="249631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53912" y="296265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Validates, formats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structures 6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of memo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34072" y="2734056"/>
            <a:ext cx="137160" cy="0"/>
          </a:xfrm>
          <a:prstGeom prst="line">
            <a:avLst/>
          </a:prstGeom>
          <a:noFill/>
          <a:ln w="22860">
            <a:solidFill>
              <a:srgbClr val="4FACF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71232" y="1673352"/>
            <a:ext cx="1325880" cy="21031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E8ED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909560" y="1783080"/>
            <a:ext cx="640080" cy="640080"/>
          </a:xfrm>
          <a:prstGeom prst="ellipse">
            <a:avLst/>
          </a:prstGeom>
          <a:solidFill>
            <a:srgbClr val="174A8C"/>
          </a:solidFill>
          <a:ln w="12700">
            <a:solidFill>
              <a:srgbClr val="174A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95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616952" y="249631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Return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16952" y="296265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PostgreSQL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JSON/PDF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client dashboard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56032" y="393192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Over Existing System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6032" y="425196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EAF4FF"/>
          </a:solidFill>
          <a:ln w="7620">
            <a:solidFill>
              <a:srgbClr val="4FAC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Memo generated in &lt; 6 seconds vs. 3–4 hours manually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090672" y="425196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EAF4FF"/>
          </a:solidFill>
          <a:ln w="7620">
            <a:solidFill>
              <a:srgbClr val="4FAC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82112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Consistent 6-section structure every time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25312" y="425196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EAF4FF"/>
          </a:solidFill>
          <a:ln w="7620">
            <a:solidFill>
              <a:srgbClr val="4FAC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16752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RAG grounding prevents hallucinations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56032" y="470916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EAF4FF"/>
          </a:solidFill>
          <a:ln w="7620">
            <a:solidFill>
              <a:srgbClr val="4FAC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709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Scales to thousands of applications without added headcount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090672" y="470916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EAF4FF"/>
          </a:solidFill>
          <a:ln w="7620">
            <a:solidFill>
              <a:srgbClr val="4FAC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82112" y="4709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Fully auditable — all inputs &amp; outputs stored in PostgreSQL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371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1554480" cy="658368"/>
          </a:xfrm>
          <a:prstGeom prst="roundRect">
            <a:avLst>
              <a:gd name="adj" fmla="val 972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6012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05156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0515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Dashboard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1289304"/>
            <a:ext cx="137160" cy="0"/>
          </a:xfrm>
          <a:prstGeom prst="line">
            <a:avLst/>
          </a:prstGeom>
          <a:noFill/>
          <a:ln w="12700">
            <a:solidFill>
              <a:srgbClr val="C0CA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05156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70832" y="10515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1289304"/>
            <a:ext cx="137160" cy="0"/>
          </a:xfrm>
          <a:prstGeom prst="line">
            <a:avLst/>
          </a:prstGeom>
          <a:noFill/>
          <a:ln w="12700">
            <a:solidFill>
              <a:srgbClr val="C0CA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05156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56832" y="10515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Calls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33272" y="1618488"/>
            <a:ext cx="0" cy="118872"/>
          </a:xfrm>
          <a:prstGeom prst="line">
            <a:avLst/>
          </a:prstGeom>
          <a:noFill/>
          <a:ln w="19050">
            <a:solidFill>
              <a:srgbClr val="4FAC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1737360"/>
            <a:ext cx="1554480" cy="658368"/>
          </a:xfrm>
          <a:prstGeom prst="roundRect">
            <a:avLst>
              <a:gd name="adj" fmla="val 9722"/>
            </a:avLst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17373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Layer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0" y="182880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84832" y="18288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60520" y="2066544"/>
            <a:ext cx="137160" cy="0"/>
          </a:xfrm>
          <a:prstGeom prst="line">
            <a:avLst/>
          </a:prstGeom>
          <a:noFill/>
          <a:ln w="12700">
            <a:solidFill>
              <a:srgbClr val="C0CA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182880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70832" y="18288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/generate-memo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46520" y="2066544"/>
            <a:ext cx="137160" cy="0"/>
          </a:xfrm>
          <a:prstGeom prst="line">
            <a:avLst/>
          </a:prstGeom>
          <a:noFill/>
          <a:ln w="12700">
            <a:solidFill>
              <a:srgbClr val="C0CA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182880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56832" y="18288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Validation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33272" y="2395728"/>
            <a:ext cx="0" cy="118872"/>
          </a:xfrm>
          <a:prstGeom prst="line">
            <a:avLst/>
          </a:prstGeom>
          <a:noFill/>
          <a:ln w="19050">
            <a:solidFill>
              <a:srgbClr val="4FAC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2514600"/>
            <a:ext cx="1554480" cy="658368"/>
          </a:xfrm>
          <a:prstGeom prst="roundRect">
            <a:avLst>
              <a:gd name="adj" fmla="val 9722"/>
            </a:avLst>
          </a:prstGeom>
          <a:solidFill>
            <a:srgbClr val="1E7D52"/>
          </a:solidFill>
          <a:ln w="12700">
            <a:solidFill>
              <a:srgbClr val="1E7D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5146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Pipeline (Module 4)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11680" y="260604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084832" y="2606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RAG Orchestrator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60520" y="2843784"/>
            <a:ext cx="137160" cy="0"/>
          </a:xfrm>
          <a:prstGeom prst="line">
            <a:avLst/>
          </a:prstGeom>
          <a:noFill/>
          <a:ln w="12700">
            <a:solidFill>
              <a:srgbClr val="C0CA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260604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370832" y="2606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2843784"/>
            <a:ext cx="137160" cy="0"/>
          </a:xfrm>
          <a:prstGeom prst="line">
            <a:avLst/>
          </a:prstGeom>
          <a:noFill/>
          <a:ln w="12700">
            <a:solidFill>
              <a:srgbClr val="C0CA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260604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656832" y="2606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Engine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33272" y="3172968"/>
            <a:ext cx="0" cy="118872"/>
          </a:xfrm>
          <a:prstGeom prst="line">
            <a:avLst/>
          </a:prstGeom>
          <a:noFill/>
          <a:ln w="19050">
            <a:solidFill>
              <a:srgbClr val="4FAC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3291840"/>
            <a:ext cx="1554480" cy="658368"/>
          </a:xfrm>
          <a:prstGeom prst="roundRect">
            <a:avLst>
              <a:gd name="adj" fmla="val 9722"/>
            </a:avLst>
          </a:prstGeom>
          <a:solidFill>
            <a:srgbClr val="7B4F9E"/>
          </a:solidFill>
          <a:ln w="12700">
            <a:solidFill>
              <a:srgbClr val="7B4F9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32918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Layer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011680" y="338328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084832" y="3383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60520" y="3621024"/>
            <a:ext cx="137160" cy="0"/>
          </a:xfrm>
          <a:prstGeom prst="line">
            <a:avLst/>
          </a:prstGeom>
          <a:noFill/>
          <a:ln w="12700">
            <a:solidFill>
              <a:srgbClr val="C0CA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97680" y="338328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370832" y="3383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Model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46520" y="3621024"/>
            <a:ext cx="137160" cy="0"/>
          </a:xfrm>
          <a:prstGeom prst="line">
            <a:avLst/>
          </a:prstGeom>
          <a:noFill/>
          <a:ln w="12700">
            <a:solidFill>
              <a:srgbClr val="C0CA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83680" y="338328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656832" y="3383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 &amp; Formatter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33272" y="3950208"/>
            <a:ext cx="0" cy="118872"/>
          </a:xfrm>
          <a:prstGeom prst="line">
            <a:avLst/>
          </a:prstGeom>
          <a:noFill/>
          <a:ln w="19050">
            <a:solidFill>
              <a:srgbClr val="4FACF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6032" y="4069080"/>
            <a:ext cx="1554480" cy="658368"/>
          </a:xfrm>
          <a:prstGeom prst="roundRect">
            <a:avLst>
              <a:gd name="adj" fmla="val 9722"/>
            </a:avLst>
          </a:prstGeom>
          <a:solidFill>
            <a:srgbClr val="174A8C"/>
          </a:solidFill>
          <a:ln w="12700">
            <a:solidFill>
              <a:srgbClr val="174A8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" y="40690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Layer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011680" y="416052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084832" y="4160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DB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60520" y="4398264"/>
            <a:ext cx="137160" cy="0"/>
          </a:xfrm>
          <a:prstGeom prst="line">
            <a:avLst/>
          </a:prstGeom>
          <a:noFill/>
          <a:ln w="12700">
            <a:solidFill>
              <a:srgbClr val="C0CAD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97680" y="416052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370832" y="4160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Records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46520" y="4398264"/>
            <a:ext cx="137160" cy="0"/>
          </a:xfrm>
          <a:prstGeom prst="line">
            <a:avLst/>
          </a:prstGeom>
          <a:noFill/>
          <a:ln w="12700">
            <a:solidFill>
              <a:srgbClr val="C0CAD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83680" y="4160520"/>
            <a:ext cx="2148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7620">
            <a:solidFill>
              <a:srgbClr val="D0D9E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656832" y="4160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Memo Store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56032" y="4773168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top-to-bottom: Client request → FastAPI → LangChain RAG → Groq / LLaMA 3 → Parsed output → PostgreSQL → Response returned to client.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SO FAR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371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" y="987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Timeline (8 Weeks)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292608" cy="292608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" y="1645920"/>
            <a:ext cx="0" cy="457200"/>
          </a:xfrm>
          <a:prstGeom prst="line">
            <a:avLst/>
          </a:prstGeom>
          <a:noFill/>
          <a:ln w="19050">
            <a:solidFill>
              <a:srgbClr val="C0CA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316736"/>
            <a:ext cx="354787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7620">
            <a:solidFill>
              <a:srgbClr val="E8EDF5"/>
            </a:solidFill>
            <a:prstDash val="solid"/>
          </a:ln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1344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RAG Pipeline &amp; Initial Memo Generation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292608" cy="292608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" y="2395728"/>
            <a:ext cx="0" cy="457200"/>
          </a:xfrm>
          <a:prstGeom prst="line">
            <a:avLst/>
          </a:prstGeom>
          <a:noFill/>
          <a:ln w="19050">
            <a:solidFill>
              <a:srgbClr val="C0CA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066544"/>
            <a:ext cx="354787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7620">
            <a:solidFill>
              <a:srgbClr val="E8EDF5"/>
            </a:solidFill>
            <a:prstDash val="solid"/>
          </a:ln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" y="20939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Integration, Faithfulness &amp; Accuracy Improvements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52928"/>
            <a:ext cx="292608" cy="292608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" y="3145536"/>
            <a:ext cx="0" cy="457200"/>
          </a:xfrm>
          <a:prstGeom prst="line">
            <a:avLst/>
          </a:prstGeom>
          <a:noFill/>
          <a:ln w="19050">
            <a:solidFill>
              <a:srgbClr val="C0CA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816352"/>
            <a:ext cx="354787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7620">
            <a:solidFill>
              <a:srgbClr val="E8EDF5"/>
            </a:solidFill>
            <a:prstDash val="solid"/>
          </a:ln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2843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Optimisation, Edge-Case Handling &amp; Polishing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602736"/>
            <a:ext cx="292608" cy="292608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566160"/>
            <a:ext cx="354787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7620">
            <a:solidFill>
              <a:srgbClr val="E8EDF5"/>
            </a:solidFill>
            <a:prstDash val="solid"/>
          </a:ln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" y="3593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Testing, Demo Preparation &amp; Final Delivery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98755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 Completed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1316736"/>
            <a:ext cx="4251960" cy="365760"/>
          </a:xfrm>
          <a:prstGeom prst="roundRect">
            <a:avLst>
              <a:gd name="adj" fmla="val 15000"/>
            </a:avLst>
          </a:prstGeom>
          <a:solidFill>
            <a:srgbClr val="F0FFF6"/>
          </a:solidFill>
          <a:ln w="762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1316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RAG pipeline (LangChain + FAISS) implemented and tested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1755648"/>
            <a:ext cx="4251960" cy="365760"/>
          </a:xfrm>
          <a:prstGeom prst="roundRect">
            <a:avLst>
              <a:gd name="adj" fmla="val 15000"/>
            </a:avLst>
          </a:prstGeom>
          <a:solidFill>
            <a:srgbClr val="F0FFF6"/>
          </a:solidFill>
          <a:ln w="762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1755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LLaMA 3 via Groq API integrated for memo generation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2194560"/>
            <a:ext cx="4251960" cy="365760"/>
          </a:xfrm>
          <a:prstGeom prst="roundRect">
            <a:avLst>
              <a:gd name="adj" fmla="val 15000"/>
            </a:avLst>
          </a:prstGeom>
          <a:solidFill>
            <a:srgbClr val="F0FFF6"/>
          </a:solidFill>
          <a:ln w="762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6-section credit memo structure defined and validated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633472"/>
            <a:ext cx="4251960" cy="365760"/>
          </a:xfrm>
          <a:prstGeom prst="roundRect">
            <a:avLst>
              <a:gd name="adj" fmla="val 15000"/>
            </a:avLst>
          </a:prstGeom>
          <a:solidFill>
            <a:srgbClr val="F0FFF6"/>
          </a:solidFill>
          <a:ln w="762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6334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Prompt engineering: CoT, format enforcement, output validation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3072384"/>
            <a:ext cx="4251960" cy="365760"/>
          </a:xfrm>
          <a:prstGeom prst="roundRect">
            <a:avLst>
              <a:gd name="adj" fmla="val 15000"/>
            </a:avLst>
          </a:prstGeom>
          <a:solidFill>
            <a:srgbClr val="F0FFF6"/>
          </a:solidFill>
          <a:ln w="7620">
            <a:solidFill>
              <a:srgbClr val="4CAF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30723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FastAPI memo endpoint (POST /generate-memo) live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17720" y="3511296"/>
            <a:ext cx="4251960" cy="365760"/>
          </a:xfrm>
          <a:prstGeom prst="roundRect">
            <a:avLst>
              <a:gd name="adj" fmla="val 15000"/>
            </a:avLst>
          </a:prstGeom>
          <a:solidFill>
            <a:srgbClr val="F0FFF6"/>
          </a:solidFill>
          <a:ln w="7620">
            <a:solidFill>
              <a:srgbClr val="4CAF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5112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Latency optimised — memo delivered in &lt; 6 seconds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3950208"/>
            <a:ext cx="4251960" cy="365760"/>
          </a:xfrm>
          <a:prstGeom prst="roundRect">
            <a:avLst>
              <a:gd name="adj" fmla="val 15000"/>
            </a:avLst>
          </a:prstGeom>
          <a:solidFill>
            <a:srgbClr val="F0FFF6"/>
          </a:solidFill>
          <a:ln w="7620">
            <a:solidFill>
              <a:srgbClr val="4CAF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3950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Edge-case handling for missing / corrupt applicant fields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17720" y="4389120"/>
            <a:ext cx="4251960" cy="365760"/>
          </a:xfrm>
          <a:prstGeom prst="roundRect">
            <a:avLst>
              <a:gd name="adj" fmla="val 15000"/>
            </a:avLst>
          </a:prstGeom>
          <a:solidFill>
            <a:srgbClr val="FFFBF0"/>
          </a:solidFill>
          <a:ln w="762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4389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Full integration testing with CreditSentinel frontend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371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" y="987552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Format References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325880"/>
            <a:ext cx="86319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25880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E. I. Altman and G. Sabato, "Modelling credit risk for SMEs: Evidence from the U.S. market," Abacus, vol. 43, no. 3, pp. 332–357, 2007.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56032" y="1682496"/>
            <a:ext cx="8631936" cy="310896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682496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A. E. Khandani, A. J. Kim, and A. W. Lo, "Consumer credit-risk models via machine-learning algorithms," Journal of Banking &amp; Finance, vol. 34, no. 11, pp. 2767–2787, 2010.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56032" y="2039112"/>
            <a:ext cx="86319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039112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P. Lewis et al., "Retrieval-augmented generation for knowledge-intensive NLP tasks," in Advances in Neural Information Processing Systems (NeurIPS), vol. 33, pp. 9459–9474, 2020.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56032" y="2395728"/>
            <a:ext cx="8631936" cy="310896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395728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H. Touvron et al., "LLaMA 2: Open foundation and fine-tuned chat models," arXiv preprint arXiv:2307.09288, Jul. 2023.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56032" y="2752344"/>
            <a:ext cx="86319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752344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W. X. Zhao et al., "A survey of large language models for financial applications," arXiv preprint arXiv:2311.10723, Nov. 2024.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56032" y="3108960"/>
            <a:ext cx="8631936" cy="310896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108960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LangChain Team, "LangChain Documentation," LangChain AI, 2024. [Online]. Available: https://docs.langchain.com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56032" y="3465576"/>
            <a:ext cx="86319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465576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Meta AI, "FAISS: A Library for Efficient Similarity Search," GitHub Repository, 2024. [Online]. Available: https://github.com/facebookresearch/faiss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56032" y="3822192"/>
            <a:ext cx="8631936" cy="310896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822192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Groq Inc., "Groq API Documentation," 2024. [Online]. Available: https://console.groq.com/docs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56032" y="4178808"/>
            <a:ext cx="86319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178808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Reserve Bank of India, "Master Directions — Non-Banking Financial Companies," RBI/DNBS Circulars, 2023. [Online]. Available: https://rbi.org.in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56032" y="4535424"/>
            <a:ext cx="8631936" cy="310896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 w="5080">
            <a:solidFill>
              <a:srgbClr val="D8E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535424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S. Tihanyi et al., "FastAPI Framework for Building High-Performance APIs with Python," Journal of Open Source Software, 2023.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1887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2286000" y="2606040"/>
            <a:ext cx="45720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83464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2514600" cy="438912"/>
          </a:xfrm>
          <a:prstGeom prst="roundRect">
            <a:avLst>
              <a:gd name="adj" fmla="val 14583"/>
            </a:avLst>
          </a:prstGeom>
          <a:solidFill>
            <a:srgbClr val="FFFFFF">
              <a:alpha val="12000"/>
            </a:srgbClr>
          </a:solidFill>
          <a:ln w="8890">
            <a:solidFill>
              <a:srgbClr val="4FAC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338328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Student:  C Yuva Teja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3383280"/>
            <a:ext cx="2514600" cy="438912"/>
          </a:xfrm>
          <a:prstGeom prst="roundRect">
            <a:avLst>
              <a:gd name="adj" fmla="val 14583"/>
            </a:avLst>
          </a:prstGeom>
          <a:solidFill>
            <a:srgbClr val="FFFFFF">
              <a:alpha val="12000"/>
            </a:srgbClr>
          </a:solidFill>
          <a:ln w="8890">
            <a:solidFill>
              <a:srgbClr val="4FAC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338328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Register No.:  122411510123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3383280"/>
            <a:ext cx="2514600" cy="438912"/>
          </a:xfrm>
          <a:prstGeom prst="roundRect">
            <a:avLst>
              <a:gd name="adj" fmla="val 14583"/>
            </a:avLst>
          </a:prstGeom>
          <a:solidFill>
            <a:srgbClr val="FFFFFF">
              <a:alpha val="12000"/>
            </a:srgbClr>
          </a:solidFill>
          <a:ln w="8890">
            <a:solidFill>
              <a:srgbClr val="4FAC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2472" y="338328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University:  The Apollo University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2514600" cy="438912"/>
          </a:xfrm>
          <a:prstGeom prst="roundRect">
            <a:avLst>
              <a:gd name="adj" fmla="val 14583"/>
            </a:avLst>
          </a:prstGeom>
          <a:solidFill>
            <a:srgbClr val="FFFFFF">
              <a:alpha val="12000"/>
            </a:srgbClr>
          </a:solidFill>
          <a:ln w="8890">
            <a:solidFill>
              <a:srgbClr val="4FACFE"/>
            </a:solidFill>
            <a:prstDash val="solid"/>
          </a:ln>
        </p:spPr>
        <p:txBody>
          <a:bodyPr/>
          <a:lstStyle/>
          <a:p>
            <a:r>
              <a:rPr lang="en-US" dirty="0"/>
              <a:t>-</a:t>
            </a:r>
            <a:endParaRPr lang="te-IN" dirty="0"/>
          </a:p>
        </p:txBody>
      </p:sp>
      <p:sp>
        <p:nvSpPr>
          <p:cNvPr id="14" name="Text 12"/>
          <p:cNvSpPr/>
          <p:nvPr/>
        </p:nvSpPr>
        <p:spPr>
          <a:xfrm>
            <a:off x="576072" y="393192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Project: 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CreditSentinel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Memo API 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3931920"/>
            <a:ext cx="2514600" cy="438912"/>
          </a:xfrm>
          <a:prstGeom prst="roundRect">
            <a:avLst>
              <a:gd name="adj" fmla="val 14583"/>
            </a:avLst>
          </a:prstGeom>
          <a:solidFill>
            <a:srgbClr val="FFFFFF">
              <a:alpha val="12000"/>
            </a:srgbClr>
          </a:solidFill>
          <a:ln w="8890">
            <a:solidFill>
              <a:srgbClr val="4FAC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393192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Company:  Skillvance Technologies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3931920"/>
            <a:ext cx="2514600" cy="438912"/>
          </a:xfrm>
          <a:prstGeom prst="roundRect">
            <a:avLst>
              <a:gd name="adj" fmla="val 14583"/>
            </a:avLst>
          </a:prstGeom>
          <a:solidFill>
            <a:srgbClr val="FFFFFF">
              <a:alpha val="12000"/>
            </a:srgbClr>
          </a:solidFill>
          <a:ln w="8890">
            <a:solidFill>
              <a:srgbClr val="4FAC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393192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Guide:  Mr. J. Jacob Navin Kumar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 •  School of Technology  •  The Apollo University, Chittoor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2182</Words>
  <Application>Microsoft Office PowerPoint</Application>
  <PresentationFormat>On-screen Show (16:9)</PresentationFormat>
  <Paragraphs>326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CreditSentinel — First Review</dc:title>
  <dc:subject>PptxGenJS Presentation</dc:subject>
  <dc:creator>C Yuva Teja</dc:creator>
  <cp:lastModifiedBy>YUVA TEJA</cp:lastModifiedBy>
  <cp:revision>2</cp:revision>
  <dcterms:created xsi:type="dcterms:W3CDTF">2026-06-26T05:05:30Z</dcterms:created>
  <dcterms:modified xsi:type="dcterms:W3CDTF">2026-06-26T07:41:33Z</dcterms:modified>
</cp:coreProperties>
</file>