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69" r:id="rId4"/>
    <p:sldId id="267" r:id="rId5"/>
    <p:sldId id="270" r:id="rId6"/>
    <p:sldId id="268" r:id="rId7"/>
    <p:sldId id="275" r:id="rId8"/>
    <p:sldId id="271" r:id="rId9"/>
    <p:sldId id="266" r:id="rId10"/>
  </p:sldIdLst>
  <p:sldSz cx="9144000" cy="6858000" type="screen4x3"/>
  <p:notesSz cx="6858000" cy="9144000"/>
  <p:custShowLst>
    <p:custShow name="Custom Show 1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0"/>
      </p:sldLst>
    </p:custShow>
  </p:custShow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B3E23B5-EB82-422D-82AE-8FF7D3BCCC11}" v="12" dt="2026-06-03T07:14:51.253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323" autoAdjust="0"/>
    <p:restoredTop sz="94660"/>
  </p:normalViewPr>
  <p:slideViewPr>
    <p:cSldViewPr snapToGrid="0">
      <p:cViewPr varScale="1">
        <p:scale>
          <a:sx n="76" d="100"/>
          <a:sy n="76" d="100"/>
        </p:scale>
        <p:origin x="108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Shape 12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28" name="Shape 12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86497164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595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Line 14"/>
          <p:cNvSpPr/>
          <p:nvPr/>
        </p:nvSpPr>
        <p:spPr>
          <a:xfrm flipH="1" flipV="1">
            <a:off x="385525" y="6386954"/>
            <a:ext cx="8434038" cy="1"/>
          </a:xfrm>
          <a:prstGeom prst="line">
            <a:avLst/>
          </a:prstGeom>
          <a:ln w="3175">
            <a:solidFill>
              <a:srgbClr val="00A2E0"/>
            </a:solidFill>
          </a:ln>
        </p:spPr>
        <p:txBody>
          <a:bodyPr lIns="40019" tIns="40019" rIns="40019" bIns="40019" anchor="ctr"/>
          <a:lstStyle/>
          <a:p>
            <a:pPr algn="ctr" defTabSz="829875">
              <a:lnSpc>
                <a:spcPct val="120000"/>
              </a:lnSpc>
              <a:defRPr sz="1400" i="1" u="sng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sp>
        <p:nvSpPr>
          <p:cNvPr id="93" name="Line 7"/>
          <p:cNvSpPr/>
          <p:nvPr/>
        </p:nvSpPr>
        <p:spPr>
          <a:xfrm flipH="1" flipV="1">
            <a:off x="385524" y="6386954"/>
            <a:ext cx="8601008" cy="1"/>
          </a:xfrm>
          <a:prstGeom prst="line">
            <a:avLst/>
          </a:prstGeom>
          <a:ln w="3175">
            <a:solidFill>
              <a:srgbClr val="595959"/>
            </a:solidFill>
          </a:ln>
        </p:spPr>
        <p:txBody>
          <a:bodyPr lIns="40019" tIns="40019" rIns="40019" bIns="40019" anchor="ctr"/>
          <a:lstStyle/>
          <a:p>
            <a:pPr algn="ctr" defTabSz="829875">
              <a:lnSpc>
                <a:spcPct val="120000"/>
              </a:lnSpc>
              <a:defRPr sz="1400" i="1" u="sng">
                <a:latin typeface="Arial"/>
                <a:ea typeface="Arial"/>
                <a:cs typeface="Arial"/>
                <a:sym typeface="Arial"/>
              </a:defRPr>
            </a:pPr>
            <a:endParaRPr/>
          </a:p>
        </p:txBody>
      </p:sp>
      <p:grpSp>
        <p:nvGrpSpPr>
          <p:cNvPr id="118" name="Group 70"/>
          <p:cNvGrpSpPr/>
          <p:nvPr/>
        </p:nvGrpSpPr>
        <p:grpSpPr>
          <a:xfrm>
            <a:off x="385524" y="817257"/>
            <a:ext cx="8601008" cy="80092"/>
            <a:chOff x="0" y="0"/>
            <a:chExt cx="8601006" cy="80091"/>
          </a:xfrm>
        </p:grpSpPr>
        <p:sp>
          <p:nvSpPr>
            <p:cNvPr id="94" name="Line 7"/>
            <p:cNvSpPr/>
            <p:nvPr/>
          </p:nvSpPr>
          <p:spPr>
            <a:xfrm flipH="1" flipV="1">
              <a:off x="-1" y="31221"/>
              <a:ext cx="8601009" cy="1"/>
            </a:xfrm>
            <a:prstGeom prst="line">
              <a:avLst/>
            </a:prstGeom>
            <a:noFill/>
            <a:ln w="3175" cap="flat">
              <a:solidFill>
                <a:srgbClr val="595959"/>
              </a:solidFill>
              <a:prstDash val="solid"/>
              <a:round/>
            </a:ln>
            <a:effectLst/>
          </p:spPr>
          <p:txBody>
            <a:bodyPr wrap="square" lIns="40019" tIns="40019" rIns="40019" bIns="40019" numCol="1" anchor="ctr">
              <a:noAutofit/>
            </a:bodyPr>
            <a:lstStyle/>
            <a:p>
              <a:pPr algn="ctr" defTabSz="829875">
                <a:lnSpc>
                  <a:spcPct val="120000"/>
                </a:lnSpc>
                <a:defRPr sz="1400" i="1" u="sng">
                  <a:latin typeface="Arial"/>
                  <a:ea typeface="Arial"/>
                  <a:cs typeface="Arial"/>
                  <a:sym typeface="Arial"/>
                </a:defRPr>
              </a:pPr>
              <a:endParaRPr/>
            </a:p>
          </p:txBody>
        </p:sp>
        <p:pic>
          <p:nvPicPr>
            <p:cNvPr id="95" name="Picture 8" descr="Picture 8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670596" y="1357"/>
              <a:ext cx="78735" cy="78735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96" name="Picture 9" descr="Picture 9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787339" y="1357"/>
              <a:ext cx="78735" cy="78735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97" name="Picture 12" descr="Picture 12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905441" y="1357"/>
              <a:ext cx="77377" cy="78735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98" name="Picture 13" descr="Picture 13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1022184" y="1357"/>
              <a:ext cx="78735" cy="78735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99" name="Picture 14" descr="Picture 14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1140284" y="1357"/>
              <a:ext cx="77378" cy="78735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100" name="Picture 35" descr="Picture 35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1257028" y="0"/>
              <a:ext cx="77378" cy="78734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101" name="Picture 36" descr="Picture 36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1373771" y="0"/>
              <a:ext cx="78735" cy="78734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102" name="Picture 37" descr="Picture 37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1490515" y="0"/>
              <a:ext cx="78735" cy="78734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103" name="Picture 38" descr="Picture 38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1608616" y="0"/>
              <a:ext cx="77377" cy="78734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104" name="Picture 39" descr="Picture 39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1725360" y="0"/>
              <a:ext cx="78735" cy="78734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105" name="Picture 40" descr="Picture 40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1842103" y="1357"/>
              <a:ext cx="77377" cy="78735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106" name="Picture 41" descr="Picture 41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1958847" y="1357"/>
              <a:ext cx="78735" cy="78735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107" name="Picture 42" descr="Picture 42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2076947" y="1357"/>
              <a:ext cx="77378" cy="78735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108" name="Picture 43" descr="Picture 43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2193691" y="1357"/>
              <a:ext cx="78735" cy="78735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109" name="Picture 44" descr="Picture 44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2310434" y="1357"/>
              <a:ext cx="78735" cy="78735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110" name="Picture 45" descr="Picture 45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2427178" y="0"/>
              <a:ext cx="78735" cy="78734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111" name="Picture 46" descr="Picture 46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2545279" y="0"/>
              <a:ext cx="77377" cy="78734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112" name="Picture 47" descr="Picture 47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2662023" y="0"/>
              <a:ext cx="78735" cy="78734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113" name="Picture 48" descr="Picture 48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2780123" y="0"/>
              <a:ext cx="77378" cy="78734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114" name="Picture 49" descr="Picture 49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2896866" y="0"/>
              <a:ext cx="78735" cy="78734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115" name="Picture 50" descr="Picture 50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3012253" y="1357"/>
              <a:ext cx="77377" cy="78735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116" name="Picture 51" descr="Picture 51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3128996" y="1357"/>
              <a:ext cx="78735" cy="78735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  <p:pic>
          <p:nvPicPr>
            <p:cNvPr id="117" name="Picture 52" descr="Picture 52"/>
            <p:cNvPicPr>
              <a:picLocks noChangeAspect="1"/>
            </p:cNvPicPr>
            <p:nvPr/>
          </p:nvPicPr>
          <p:blipFill>
            <a:blip r:embed="rId2"/>
            <a:srcRect l="1840" t="32812" r="94781"/>
            <a:stretch>
              <a:fillRect/>
            </a:stretch>
          </p:blipFill>
          <p:spPr>
            <a:xfrm>
              <a:off x="3245740" y="1357"/>
              <a:ext cx="78735" cy="78735"/>
            </a:xfrm>
            <a:prstGeom prst="rect">
              <a:avLst/>
            </a:prstGeom>
            <a:ln w="12700" cap="flat">
              <a:noFill/>
              <a:miter lim="400000"/>
            </a:ln>
            <a:effectLst>
              <a:outerShdw blurRad="38100" dist="38100" dir="5400000" rotWithShape="0">
                <a:srgbClr val="FFFFFF"/>
              </a:outerShdw>
            </a:effectLst>
          </p:spPr>
        </p:pic>
      </p:grpSp>
      <p:sp>
        <p:nvSpPr>
          <p:cNvPr id="119" name="Rectangle 4"/>
          <p:cNvSpPr txBox="1"/>
          <p:nvPr/>
        </p:nvSpPr>
        <p:spPr>
          <a:xfrm>
            <a:off x="340123" y="6532272"/>
            <a:ext cx="6878905" cy="268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39095" tIns="39095" rIns="39095" bIns="39095">
            <a:spAutoFit/>
          </a:bodyPr>
          <a:lstStyle>
            <a:lvl1pPr defTabSz="829875">
              <a:lnSpc>
                <a:spcPct val="120000"/>
              </a:lnSpc>
              <a:defRPr sz="1100" i="1" u="sng"/>
            </a:lvl1pPr>
          </a:lstStyle>
          <a:p>
            <a:r>
              <a:rPr dirty="0"/>
              <a:t>Department of Computer Science and Engineering</a:t>
            </a:r>
            <a:r>
              <a:rPr lang="en-IN" dirty="0"/>
              <a:t>, School of Technology,</a:t>
            </a:r>
            <a:r>
              <a:rPr dirty="0"/>
              <a:t> The Apollo University, Chittoor</a:t>
            </a:r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49861" y="6433712"/>
            <a:ext cx="139837" cy="127001"/>
          </a:xfrm>
          <a:prstGeom prst="rect">
            <a:avLst/>
          </a:prstGeom>
        </p:spPr>
        <p:txBody>
          <a:bodyPr lIns="0" tIns="0" rIns="0" bIns="0" anchor="b"/>
          <a:lstStyle>
            <a:lvl1pPr defTabSz="829875">
              <a:defRPr sz="9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121" name="images.jpeg" descr="images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8121" y="34549"/>
            <a:ext cx="1398349" cy="13983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5" r:id="rId5"/>
    <p:sldLayoutId id="2147483656" r:id="rId6"/>
    <p:sldLayoutId id="2147483657" r:id="rId7"/>
    <p:sldLayoutId id="2147483658" r:id="rId8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ubtitle 2"/>
          <p:cNvSpPr txBox="1"/>
          <p:nvPr/>
        </p:nvSpPr>
        <p:spPr>
          <a:xfrm>
            <a:off x="5910662" y="5231062"/>
            <a:ext cx="3146886" cy="1259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pPr algn="just" defTabSz="283463">
              <a:spcBef>
                <a:spcPts val="400"/>
              </a:spcBef>
              <a:defRPr sz="1612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200" dirty="0"/>
              <a:t>Supervisor Details</a:t>
            </a:r>
            <a:endParaRPr lang="en-US" sz="1200" dirty="0"/>
          </a:p>
          <a:p>
            <a:pPr algn="just" defTabSz="283463">
              <a:spcBef>
                <a:spcPts val="400"/>
              </a:spcBef>
              <a:defRPr sz="1612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200" dirty="0"/>
              <a:t>Guide </a:t>
            </a:r>
            <a:r>
              <a:rPr lang="en-US" sz="1200" dirty="0" err="1"/>
              <a:t>name:Mr.J.Jacob</a:t>
            </a:r>
            <a:r>
              <a:rPr lang="en-US" sz="1200" dirty="0"/>
              <a:t> </a:t>
            </a:r>
            <a:r>
              <a:rPr lang="en-US" sz="1200" dirty="0" err="1"/>
              <a:t>Navin</a:t>
            </a:r>
            <a:r>
              <a:rPr lang="en-US" sz="1200" dirty="0"/>
              <a:t> Kumar</a:t>
            </a:r>
            <a:endParaRPr sz="1200" dirty="0"/>
          </a:p>
          <a:p>
            <a:pPr algn="just" defTabSz="283463">
              <a:spcBef>
                <a:spcPts val="400"/>
              </a:spcBef>
              <a:defRPr sz="1612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200" dirty="0"/>
              <a:t>Department of CSE</a:t>
            </a:r>
          </a:p>
          <a:p>
            <a:pPr algn="just" defTabSz="283463">
              <a:spcBef>
                <a:spcPts val="400"/>
              </a:spcBef>
              <a:defRPr sz="1612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1200" dirty="0"/>
              <a:t>School of Technology</a:t>
            </a:r>
            <a:endParaRPr sz="1200" dirty="0"/>
          </a:p>
          <a:p>
            <a:pPr algn="just" defTabSz="283463">
              <a:spcBef>
                <a:spcPts val="400"/>
              </a:spcBef>
              <a:defRPr sz="1612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1200" dirty="0"/>
              <a:t>The Apollo University</a:t>
            </a:r>
          </a:p>
        </p:txBody>
      </p:sp>
      <p:sp>
        <p:nvSpPr>
          <p:cNvPr id="131" name="Internship First Review Presentation"/>
          <p:cNvSpPr txBox="1"/>
          <p:nvPr/>
        </p:nvSpPr>
        <p:spPr>
          <a:xfrm>
            <a:off x="3995518" y="327117"/>
            <a:ext cx="92396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endParaRPr sz="1200" dirty="0"/>
          </a:p>
        </p:txBody>
      </p:sp>
      <p:sp>
        <p:nvSpPr>
          <p:cNvPr id="132" name="Internship Title…"/>
          <p:cNvSpPr txBox="1"/>
          <p:nvPr/>
        </p:nvSpPr>
        <p:spPr>
          <a:xfrm>
            <a:off x="513519" y="1626938"/>
            <a:ext cx="8116964" cy="1166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3200" dirty="0"/>
              <a:t>Project </a:t>
            </a:r>
            <a:r>
              <a:rPr sz="3200" dirty="0"/>
              <a:t> Title</a:t>
            </a:r>
          </a:p>
          <a:p>
            <a:pPr algn="ctr">
              <a:spcBef>
                <a:spcPts val="700"/>
              </a:spcBef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3200" dirty="0"/>
              <a:t>[</a:t>
            </a:r>
            <a:r>
              <a:rPr lang="en-US" sz="2400" dirty="0" err="1"/>
              <a:t>CreditSentinel</a:t>
            </a:r>
            <a:r>
              <a:rPr lang="en-US" sz="2400" dirty="0"/>
              <a:t> – AI-Powered Credit Risk Intelligence Platform</a:t>
            </a:r>
            <a:r>
              <a:rPr sz="3200" dirty="0"/>
              <a:t>]</a:t>
            </a:r>
          </a:p>
        </p:txBody>
      </p:sp>
      <p:sp>
        <p:nvSpPr>
          <p:cNvPr id="133" name="School of Technology…"/>
          <p:cNvSpPr txBox="1"/>
          <p:nvPr/>
        </p:nvSpPr>
        <p:spPr>
          <a:xfrm>
            <a:off x="1516998" y="3909702"/>
            <a:ext cx="6110004" cy="1200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algn="ctr"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IN" sz="2400" dirty="0"/>
              <a:t>Name of Programme: CSE</a:t>
            </a:r>
          </a:p>
          <a:p>
            <a:pPr algn="ctr"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lang="en-US" sz="2400" dirty="0"/>
              <a:t>Department of Computer Science &amp; Engineering</a:t>
            </a:r>
          </a:p>
          <a:p>
            <a:pPr algn="ctr"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rPr sz="2400" dirty="0"/>
              <a:t>School of Technology</a:t>
            </a:r>
          </a:p>
        </p:txBody>
      </p:sp>
      <p:pic>
        <p:nvPicPr>
          <p:cNvPr id="134" name="images.jpeg" descr="images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149" y="0"/>
            <a:ext cx="1752399" cy="17523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62697" y="6433711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-407591" y="112426"/>
            <a:ext cx="8488103" cy="1138773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STUDENT AND INTERNSHIP DETAILS</a:t>
            </a:r>
          </a:p>
          <a:p>
            <a:pPr algn="ctr"/>
            <a:endParaRPr lang="en-US" sz="40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34518" y="1791325"/>
            <a:ext cx="7734925" cy="452431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r>
              <a:rPr lang="en-US" sz="3200" dirty="0" err="1"/>
              <a:t>Name:</a:t>
            </a:r>
            <a:r>
              <a:rPr lang="en-US" sz="3200" dirty="0" err="1">
                <a:latin typeface="Lucida Handwriting" panose="03010101010101010101" pitchFamily="66" charset="0"/>
              </a:rPr>
              <a:t>C</a:t>
            </a:r>
            <a:r>
              <a:rPr lang="en-US" sz="3200" dirty="0">
                <a:latin typeface="Lucida Handwriting" panose="03010101010101010101" pitchFamily="66" charset="0"/>
              </a:rPr>
              <a:t> YUVA TEJA</a:t>
            </a:r>
          </a:p>
          <a:p>
            <a:r>
              <a:rPr lang="en-US" sz="3200" dirty="0"/>
              <a:t>Register Number:122411510123</a:t>
            </a:r>
          </a:p>
          <a:p>
            <a:r>
              <a:rPr lang="en-US" sz="3200" dirty="0"/>
              <a:t>Name of the </a:t>
            </a:r>
            <a:r>
              <a:rPr lang="en-US" sz="3200" dirty="0" err="1"/>
              <a:t>Programme</a:t>
            </a:r>
            <a:r>
              <a:rPr lang="en-US" sz="3200" dirty="0"/>
              <a:t>: </a:t>
            </a:r>
            <a:r>
              <a:rPr lang="en-US" sz="3200" dirty="0">
                <a:latin typeface="Lucida Calligraphy" panose="03010101010101010101" pitchFamily="66" charset="0"/>
              </a:rPr>
              <a:t>CSE</a:t>
            </a:r>
          </a:p>
          <a:p>
            <a:r>
              <a:rPr lang="en-US" sz="3200" dirty="0"/>
              <a:t>Company Name</a:t>
            </a:r>
            <a:r>
              <a:rPr lang="en-IN" sz="3200" dirty="0"/>
              <a:t>: </a:t>
            </a:r>
            <a:r>
              <a:rPr lang="en-IN" sz="3200" dirty="0" err="1">
                <a:latin typeface="Lucida Calligraphy" panose="03010101010101010101" pitchFamily="66" charset="0"/>
              </a:rPr>
              <a:t>SkillvanceTechnologies</a:t>
            </a:r>
            <a:endParaRPr lang="en-US" sz="3200" dirty="0">
              <a:latin typeface="Lucida Calligraphy" panose="03010101010101010101" pitchFamily="66" charset="0"/>
            </a:endParaRPr>
          </a:p>
          <a:p>
            <a:r>
              <a:rPr lang="en-US" sz="3200" dirty="0"/>
              <a:t>Internship Duration:8 </a:t>
            </a:r>
            <a:r>
              <a:rPr lang="en-US" sz="3200" dirty="0">
                <a:latin typeface="Lucida Calligraphy" panose="03010101010101010101" pitchFamily="66" charset="0"/>
              </a:rPr>
              <a:t>WEEKS</a:t>
            </a:r>
          </a:p>
          <a:p>
            <a:endParaRPr lang="en-US" sz="3200" dirty="0"/>
          </a:p>
          <a:p>
            <a:pPr algn="just"/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  <a:p>
            <a:pPr marL="0" marR="0" indent="0" algn="l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Times New Roman" panose="02020603050405020304" pitchFamily="18" charset="0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33136" y="0"/>
            <a:ext cx="4735211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COMPANY PROFILE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52E1B3-9E2A-AFF8-F555-D21E36AE6461}"/>
              </a:ext>
            </a:extLst>
          </p:cNvPr>
          <p:cNvSpPr txBox="1"/>
          <p:nvPr/>
        </p:nvSpPr>
        <p:spPr>
          <a:xfrm>
            <a:off x="318052" y="1285461"/>
            <a:ext cx="8044070" cy="46474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About the company: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 err="1"/>
              <a:t>Skillvance</a:t>
            </a:r>
            <a:r>
              <a:rPr lang="en-US" sz="2400" dirty="0"/>
              <a:t> Technologies provides industry-oriented training and internship programs focused on AI, Machine Learning, Data Science, Full Stack Development, and emerging technologies.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Services/Products:</a:t>
            </a:r>
            <a:br>
              <a:rPr lang="en-US" sz="3200" dirty="0"/>
            </a:br>
            <a:r>
              <a:rPr lang="en-US" sz="2400" dirty="0" err="1"/>
              <a:t>CreditSentinel</a:t>
            </a:r>
            <a:r>
              <a:rPr lang="en-US" sz="2400" dirty="0"/>
              <a:t> is an AI-powered credit risk intelligence platform that helps NBFCs automate credit underwriting using ML and Generative AI.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Domain:</a:t>
            </a:r>
            <a:br>
              <a:rPr lang="en-US" sz="3200" dirty="0"/>
            </a:br>
            <a:r>
              <a:rPr lang="en-IN" sz="3200" b="1" dirty="0"/>
              <a:t>Credit Risk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6978405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473443" y="134911"/>
            <a:ext cx="8126573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3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60E2CB-0A4B-0345-860B-3F1BC82297C1}"/>
              </a:ext>
            </a:extLst>
          </p:cNvPr>
          <p:cNvSpPr txBox="1"/>
          <p:nvPr/>
        </p:nvSpPr>
        <p:spPr>
          <a:xfrm>
            <a:off x="606287" y="1550506"/>
            <a:ext cx="6152321" cy="41549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Brief overview of the internship project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/>
              <a:t>CreditSentinel</a:t>
            </a:r>
            <a:r>
              <a:rPr lang="en-US" sz="2000" dirty="0"/>
              <a:t> is an AI-powered credit risk intelligence platform designed for Indian NBFCs and lending institutions. The system combines Machine Learning risk scoring, AI-powered credit memo generation, and intelligent red flag detection to improve the credit underwriting process. My contribution focused on developing the Credit Memo Generation Pipeline using </a:t>
            </a:r>
            <a:r>
              <a:rPr lang="en-US" sz="2000" dirty="0" err="1"/>
              <a:t>LangChain</a:t>
            </a:r>
            <a:r>
              <a:rPr lang="en-US" sz="2000" dirty="0"/>
              <a:t>, FAISS, and </a:t>
            </a:r>
            <a:r>
              <a:rPr lang="en-US" sz="2000" dirty="0" err="1"/>
              <a:t>LLaMA</a:t>
            </a:r>
            <a:r>
              <a:rPr lang="en-US" sz="2000" dirty="0"/>
              <a:t> 3, </a:t>
            </a:r>
            <a:r>
              <a:rPr lang="en-US" sz="2000" dirty="0" err="1"/>
              <a:t>Groq</a:t>
            </a:r>
            <a:r>
              <a:rPr lang="en-US" sz="2000" dirty="0"/>
              <a:t> API to generate professional six-section credit memos from application data within seconds.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00426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33137" y="0"/>
            <a:ext cx="7213367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sz="4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4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NTRODUCTION</a:t>
            </a:r>
            <a:endParaRPr lang="en-US" sz="40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3B2165-7AE8-8A99-44E3-C3C28E230DB1}"/>
              </a:ext>
            </a:extLst>
          </p:cNvPr>
          <p:cNvSpPr txBox="1"/>
          <p:nvPr/>
        </p:nvSpPr>
        <p:spPr>
          <a:xfrm>
            <a:off x="637563" y="998290"/>
            <a:ext cx="7843827" cy="638149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sz="2800" b="1" dirty="0"/>
              <a:t>Problem</a:t>
            </a:r>
          </a:p>
          <a:p>
            <a:r>
              <a:rPr lang="en-US" sz="2800" dirty="0"/>
              <a:t>Traditional credit underwriting takes 3–4 hours per application and often leads to inconsistent decisions. </a:t>
            </a:r>
          </a:p>
          <a:p>
            <a:r>
              <a:rPr lang="en-US" sz="2800" b="1" dirty="0"/>
              <a:t>Solution</a:t>
            </a:r>
          </a:p>
          <a:p>
            <a:r>
              <a:rPr lang="en-US" sz="2800" dirty="0" err="1"/>
              <a:t>CreditSentinel</a:t>
            </a:r>
            <a:r>
              <a:rPr lang="en-US" sz="2800" dirty="0"/>
              <a:t> provides: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ML Risk Score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AI Credit Memo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Red Flag Detection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Analyst Dashboard </a:t>
            </a:r>
          </a:p>
          <a:p>
            <a:r>
              <a:rPr lang="en-US" sz="2800" dirty="0"/>
              <a:t>This reduces analysis time and improves consistency in lending decisions.</a:t>
            </a:r>
          </a:p>
          <a:p>
            <a:pPr lvl="0">
              <a:lnSpc>
                <a:spcPct val="115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IN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br>
              <a:rPr lang="en-IN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IN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74648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794678" y="77343"/>
            <a:ext cx="3432350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13D1D-A5CE-7D79-3212-FA06FD7B0D95}"/>
              </a:ext>
            </a:extLst>
          </p:cNvPr>
          <p:cNvSpPr txBox="1"/>
          <p:nvPr/>
        </p:nvSpPr>
        <p:spPr>
          <a:xfrm>
            <a:off x="596347" y="1285461"/>
            <a:ext cx="7898295" cy="35394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Design and develop an AI-powered Credit Memo Generation System.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Generate professional credit memos automatically.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Reduce manual documentation effort.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Improve speed and consistency in credit analysis.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Ensure factual grounding using application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/>
              <a:t>Integrate the module with the CreditSentinel platform. </a:t>
            </a:r>
          </a:p>
        </p:txBody>
      </p:sp>
    </p:spTree>
    <p:extLst>
      <p:ext uri="{BB962C8B-B14F-4D97-AF65-F5344CB8AC3E}">
        <p14:creationId xmlns:p14="http://schemas.microsoft.com/office/powerpoint/2010/main" val="4290981244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63D47-1098-462C-8D96-D1125BD51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E4F393-5AF8-D59C-693C-8817C32D4CEA}"/>
              </a:ext>
            </a:extLst>
          </p:cNvPr>
          <p:cNvSpPr txBox="1"/>
          <p:nvPr/>
        </p:nvSpPr>
        <p:spPr>
          <a:xfrm>
            <a:off x="742121" y="1258956"/>
            <a:ext cx="7248939" cy="516474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IN" sz="2000" b="1" dirty="0"/>
              <a:t>Programming Languages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Python 3.11 </a:t>
            </a:r>
          </a:p>
          <a:p>
            <a:r>
              <a:rPr lang="en-IN" sz="2000" b="1" dirty="0"/>
              <a:t>Frameworks &amp; Libraries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 err="1"/>
              <a:t>LangChain</a:t>
            </a:r>
            <a:r>
              <a:rPr lang="en-IN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 err="1"/>
              <a:t>Ollama</a:t>
            </a:r>
            <a:r>
              <a:rPr lang="en-IN" sz="20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 err="1"/>
              <a:t>LLaMA</a:t>
            </a:r>
            <a:r>
              <a:rPr lang="en-IN" sz="2000" dirty="0"/>
              <a:t> 3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FAISS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 err="1"/>
              <a:t>FastAPI</a:t>
            </a:r>
            <a:r>
              <a:rPr lang="en-IN" sz="2000" dirty="0"/>
              <a:t> ,Grok API</a:t>
            </a:r>
          </a:p>
          <a:p>
            <a:r>
              <a:rPr lang="en-IN" sz="2000" b="1" dirty="0"/>
              <a:t>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PostgreSQL </a:t>
            </a:r>
          </a:p>
          <a:p>
            <a:r>
              <a:rPr lang="en-IN" sz="2000" b="1" dirty="0"/>
              <a:t>Version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Git &amp; GitHub </a:t>
            </a:r>
          </a:p>
          <a:p>
            <a:r>
              <a:rPr lang="en-IN" sz="2000" b="1" dirty="0"/>
              <a:t>Supporting Tools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Swagger UI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VS Code</a:t>
            </a:r>
          </a:p>
          <a:p>
            <a:pPr marL="457200" lvl="0" indent="-457200">
              <a:lnSpc>
                <a:spcPct val="115000"/>
              </a:lnSpc>
              <a:spcAft>
                <a:spcPts val="800"/>
              </a:spcAft>
              <a:buSzPts val="1000"/>
              <a:buFont typeface="Wingdings" panose="05000000000000000000" pitchFamily="2" charset="2"/>
              <a:buChar char="§"/>
              <a:tabLst>
                <a:tab pos="457200" algn="l"/>
              </a:tabLst>
            </a:pPr>
            <a:endParaRPr lang="en-IN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4F9460-6664-A7DE-25A2-75B6DFF558C1}"/>
              </a:ext>
            </a:extLst>
          </p:cNvPr>
          <p:cNvSpPr/>
          <p:nvPr/>
        </p:nvSpPr>
        <p:spPr>
          <a:xfrm>
            <a:off x="-872442" y="77343"/>
            <a:ext cx="6766596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T</a:t>
            </a:r>
            <a:r>
              <a:rPr lang="en-IN" sz="40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ECHNOLOGIES USED</a:t>
            </a:r>
            <a:endParaRPr lang="en-US" sz="4000" b="1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442984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71061" y="0"/>
            <a:ext cx="5035826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WORKPLAN / TIMELINE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301C674-FBE4-4FAA-B312-5E3F65D544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668594"/>
              </p:ext>
            </p:extLst>
          </p:nvPr>
        </p:nvGraphicFramePr>
        <p:xfrm>
          <a:off x="-109056" y="1392572"/>
          <a:ext cx="4760752" cy="4968240"/>
        </p:xfrm>
        <a:graphic>
          <a:graphicData uri="http://schemas.openxmlformats.org/drawingml/2006/table">
            <a:tbl>
              <a:tblPr/>
              <a:tblGrid>
                <a:gridCol w="2380376">
                  <a:extLst>
                    <a:ext uri="{9D8B030D-6E8A-4147-A177-3AD203B41FA5}">
                      <a16:colId xmlns:a16="http://schemas.microsoft.com/office/drawing/2014/main" val="2270011711"/>
                    </a:ext>
                  </a:extLst>
                </a:gridCol>
                <a:gridCol w="2380376">
                  <a:extLst>
                    <a:ext uri="{9D8B030D-6E8A-4147-A177-3AD203B41FA5}">
                      <a16:colId xmlns:a16="http://schemas.microsoft.com/office/drawing/2014/main" val="86659526"/>
                    </a:ext>
                  </a:extLst>
                </a:gridCol>
              </a:tblGrid>
              <a:tr h="277236">
                <a:tc>
                  <a:txBody>
                    <a:bodyPr/>
                    <a:lstStyle/>
                    <a:p>
                      <a:r>
                        <a:rPr lang="en-IN" sz="1600" dirty="0"/>
                        <a:t>Week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Work Completed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829232"/>
                  </a:ext>
                </a:extLst>
              </a:tr>
              <a:tr h="277236">
                <a:tc>
                  <a:txBody>
                    <a:bodyPr/>
                    <a:lstStyle/>
                    <a:p>
                      <a:r>
                        <a:rPr lang="en-IN" sz="1600" dirty="0"/>
                        <a:t>Week 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/>
                        <a:t>Setup Ollama, LLaMA 3 and initial RAG pipeline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3294286"/>
                  </a:ext>
                </a:extLst>
              </a:tr>
              <a:tr h="277236">
                <a:tc>
                  <a:txBody>
                    <a:bodyPr/>
                    <a:lstStyle/>
                    <a:p>
                      <a:r>
                        <a:rPr lang="en-IN" sz="1600"/>
                        <a:t>Week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Implemented 6-section memo generation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757915"/>
                  </a:ext>
                </a:extLst>
              </a:tr>
              <a:tr h="277236">
                <a:tc>
                  <a:txBody>
                    <a:bodyPr/>
                    <a:lstStyle/>
                    <a:p>
                      <a:r>
                        <a:rPr lang="en-IN" sz="1600"/>
                        <a:t>Week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Integrated memo generation with APIs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1905000"/>
                  </a:ext>
                </a:extLst>
              </a:tr>
              <a:tr h="277236">
                <a:tc>
                  <a:txBody>
                    <a:bodyPr/>
                    <a:lstStyle/>
                    <a:p>
                      <a:r>
                        <a:rPr lang="en-IN" sz="1600"/>
                        <a:t>Week 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Improved faithfulness and 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9324185"/>
                  </a:ext>
                </a:extLst>
              </a:tr>
              <a:tr h="277236">
                <a:tc>
                  <a:txBody>
                    <a:bodyPr/>
                    <a:lstStyle/>
                    <a:p>
                      <a:r>
                        <a:rPr lang="en-IN" sz="1600"/>
                        <a:t>Week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Optimized generation latency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4853667"/>
                  </a:ext>
                </a:extLst>
              </a:tr>
              <a:tr h="277236">
                <a:tc>
                  <a:txBody>
                    <a:bodyPr/>
                    <a:lstStyle/>
                    <a:p>
                      <a:r>
                        <a:rPr lang="en-IN" sz="1600"/>
                        <a:t>Week 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Edge-case handling and memo polishing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25278"/>
                  </a:ext>
                </a:extLst>
              </a:tr>
              <a:tr h="277236">
                <a:tc>
                  <a:txBody>
                    <a:bodyPr/>
                    <a:lstStyle/>
                    <a:p>
                      <a:r>
                        <a:rPr lang="en-IN" sz="1600"/>
                        <a:t>Week 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Integration testing and demo preparation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4562999"/>
                  </a:ext>
                </a:extLst>
              </a:tr>
              <a:tr h="277236">
                <a:tc>
                  <a:txBody>
                    <a:bodyPr/>
                    <a:lstStyle/>
                    <a:p>
                      <a:r>
                        <a:rPr lang="en-IN" sz="1600"/>
                        <a:t>Week 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/>
                        <a:t>Final delivery and presentation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65249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889068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58344" y="6433712"/>
            <a:ext cx="131354" cy="12700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181" name="Thank you"/>
          <p:cNvSpPr txBox="1"/>
          <p:nvPr/>
        </p:nvSpPr>
        <p:spPr>
          <a:xfrm>
            <a:off x="1881810" y="3353196"/>
            <a:ext cx="5435756" cy="1015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1043305">
              <a:defRPr sz="3200" b="1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 algn="ctr"/>
            <a:r>
              <a:rPr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312</TotalTime>
  <Words>407</Words>
  <Application>Microsoft Office PowerPoint</Application>
  <PresentationFormat>On-screen Show (4:3)</PresentationFormat>
  <Paragraphs>81</Paragraphs>
  <Slides>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  <vt:variant>
        <vt:lpstr>Custom Shows</vt:lpstr>
      </vt:variant>
      <vt:variant>
        <vt:i4>1</vt:i4>
      </vt:variant>
    </vt:vector>
  </HeadingPairs>
  <TitlesOfParts>
    <vt:vector size="17" baseType="lpstr">
      <vt:lpstr>Arial</vt:lpstr>
      <vt:lpstr>Calibri</vt:lpstr>
      <vt:lpstr>Lucida Calligraphy</vt:lpstr>
      <vt:lpstr>Lucida Handwriting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Custom Show 1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YUVA TEJA</cp:lastModifiedBy>
  <cp:revision>48</cp:revision>
  <dcterms:modified xsi:type="dcterms:W3CDTF">2026-06-06T03:30:17Z</dcterms:modified>
</cp:coreProperties>
</file>